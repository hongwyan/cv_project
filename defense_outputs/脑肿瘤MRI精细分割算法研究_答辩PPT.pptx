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66f5b65e21489c" /><Relationship Type="http://schemas.openxmlformats.org/officeDocument/2006/relationships/extended-properties" Target="/docProps/app.xml" Id="Rf9ce5567f5cb4828" /><Relationship Type="http://schemas.openxmlformats.org/officeDocument/2006/relationships/officeDocument" Target="/ppt/presentation.xml" Id="R56d78e1d4dca4a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848ccb1574898"/>
  </p:sldMasterIdLst>
  <p:notesMasterIdLst>
    <p:notesMasterId xmlns:r="http://schemas.openxmlformats.org/officeDocument/2006/relationships" r:id="Rc371f745e0934428"/>
  </p:notesMasterIdLst>
  <p:sldIdLst>
    <p:sldId xmlns:r="http://schemas.openxmlformats.org/officeDocument/2006/relationships" id="256" r:id="Rafec67ea2a20446c"/>
    <p:sldId xmlns:r="http://schemas.openxmlformats.org/officeDocument/2006/relationships" id="257" r:id="R28e286ab46c04ef7"/>
    <p:sldId xmlns:r="http://schemas.openxmlformats.org/officeDocument/2006/relationships" id="258" r:id="R9714d7ba260a4cd0"/>
    <p:sldId xmlns:r="http://schemas.openxmlformats.org/officeDocument/2006/relationships" id="259" r:id="R5d87a69fe9d34661"/>
    <p:sldId xmlns:r="http://schemas.openxmlformats.org/officeDocument/2006/relationships" id="260" r:id="R6743d694e456457e"/>
    <p:sldId xmlns:r="http://schemas.openxmlformats.org/officeDocument/2006/relationships" id="261" r:id="Rbadafe0182104007"/>
    <p:sldId xmlns:r="http://schemas.openxmlformats.org/officeDocument/2006/relationships" id="262" r:id="R617e905cc2f9482f"/>
    <p:sldId xmlns:r="http://schemas.openxmlformats.org/officeDocument/2006/relationships" id="263" r:id="R36d5adb57164409b"/>
    <p:sldId xmlns:r="http://schemas.openxmlformats.org/officeDocument/2006/relationships" id="264" r:id="R4b6a11898fbc4e12"/>
    <p:sldId xmlns:r="http://schemas.openxmlformats.org/officeDocument/2006/relationships" id="265" r:id="R9cfbceca1a8b413a"/>
    <p:sldId xmlns:r="http://schemas.openxmlformats.org/officeDocument/2006/relationships" id="266" r:id="R273092a48c024869"/>
    <p:sldId xmlns:r="http://schemas.openxmlformats.org/officeDocument/2006/relationships" id="267" r:id="R3c40775761044215"/>
    <p:sldId xmlns:r="http://schemas.openxmlformats.org/officeDocument/2006/relationships" id="268" r:id="R63958e192c42434a"/>
    <p:sldId xmlns:r="http://schemas.openxmlformats.org/officeDocument/2006/relationships" id="269" r:id="R93787d72418642dd"/>
    <p:sldId xmlns:r="http://schemas.openxmlformats.org/officeDocument/2006/relationships" id="270" r:id="R8b11f2b2dc51401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848ccb1574898" /><Relationship Type="http://schemas.openxmlformats.org/officeDocument/2006/relationships/theme" Target="/ppt/theme/theme1.xml" Id="R4cd67ee534ee4e55" /><Relationship Type="http://schemas.openxmlformats.org/officeDocument/2006/relationships/notesMaster" Target="/ppt/notesMasters/notesMaster1.xml" Id="Rc371f745e0934428" /><Relationship Type="http://schemas.openxmlformats.org/officeDocument/2006/relationships/presProps" Target="/ppt/presProps.xml" Id="Re7c6ebbbfe464ca5" /><Relationship Type="http://schemas.openxmlformats.org/officeDocument/2006/relationships/viewProps" Target="/ppt/viewProps.xml" Id="R9ce1d8af2db2476b" /><Relationship Type="http://schemas.openxmlformats.org/officeDocument/2006/relationships/tableStyles" Target="/ppt/tableStyles.xml" Id="R27d0b225bf1e4797" /><Relationship Type="http://schemas.openxmlformats.org/officeDocument/2006/relationships/slide" Target="/ppt/slides/slide1.xml" Id="Rafec67ea2a20446c" /><Relationship Type="http://schemas.openxmlformats.org/officeDocument/2006/relationships/slide" Target="/ppt/slides/slide2.xml" Id="R28e286ab46c04ef7" /><Relationship Type="http://schemas.openxmlformats.org/officeDocument/2006/relationships/slide" Target="/ppt/slides/slide3.xml" Id="R9714d7ba260a4cd0" /><Relationship Type="http://schemas.openxmlformats.org/officeDocument/2006/relationships/slide" Target="/ppt/slides/slide4.xml" Id="R5d87a69fe9d34661" /><Relationship Type="http://schemas.openxmlformats.org/officeDocument/2006/relationships/slide" Target="/ppt/slides/slide5.xml" Id="R6743d694e456457e" /><Relationship Type="http://schemas.openxmlformats.org/officeDocument/2006/relationships/slide" Target="/ppt/slides/slide6.xml" Id="Rbadafe0182104007" /><Relationship Type="http://schemas.openxmlformats.org/officeDocument/2006/relationships/slide" Target="/ppt/slides/slide7.xml" Id="R617e905cc2f9482f" /><Relationship Type="http://schemas.openxmlformats.org/officeDocument/2006/relationships/slide" Target="/ppt/slides/slide8.xml" Id="R36d5adb57164409b" /><Relationship Type="http://schemas.openxmlformats.org/officeDocument/2006/relationships/slide" Target="/ppt/slides/slide9.xml" Id="R4b6a11898fbc4e12" /><Relationship Type="http://schemas.openxmlformats.org/officeDocument/2006/relationships/slide" Target="/ppt/slides/slide10.xml" Id="R9cfbceca1a8b413a" /><Relationship Type="http://schemas.openxmlformats.org/officeDocument/2006/relationships/slide" Target="/ppt/slides/slide11.xml" Id="R273092a48c024869" /><Relationship Type="http://schemas.openxmlformats.org/officeDocument/2006/relationships/slide" Target="/ppt/slides/slide12.xml" Id="R3c40775761044215" /><Relationship Type="http://schemas.openxmlformats.org/officeDocument/2006/relationships/slide" Target="/ppt/slides/slide13.xml" Id="R63958e192c42434a" /><Relationship Type="http://schemas.openxmlformats.org/officeDocument/2006/relationships/slide" Target="/ppt/slides/slide14.xml" Id="R93787d72418642dd" /><Relationship Type="http://schemas.openxmlformats.org/officeDocument/2006/relationships/slide" Target="/ppt/slides/slide15.xml" Id="R8b11f2b2dc51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df32c131db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52cc3da7145d1" /><Relationship Type="http://schemas.openxmlformats.org/officeDocument/2006/relationships/notesMaster" Target="/ppt/notesMasters/notesMaster1.xml" Id="R4f0f61eef99c48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f328337be748bd" /><Relationship Type="http://schemas.openxmlformats.org/officeDocument/2006/relationships/notesMaster" Target="/ppt/notesMasters/notesMaster1.xml" Id="R22ff096e763446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7e1b213b4f42c8" /><Relationship Type="http://schemas.openxmlformats.org/officeDocument/2006/relationships/notesMaster" Target="/ppt/notesMasters/notesMaster1.xml" Id="R8d97b5fce858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e5d5d34a94b49" /><Relationship Type="http://schemas.openxmlformats.org/officeDocument/2006/relationships/notesMaster" Target="/ppt/notesMasters/notesMaster1.xml" Id="R9de4bd6743eb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751238205041f5" /><Relationship Type="http://schemas.openxmlformats.org/officeDocument/2006/relationships/notesMaster" Target="/ppt/notesMasters/notesMaster1.xml" Id="Rabe276c2c25d49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42f0aabf24fe6" /><Relationship Type="http://schemas.openxmlformats.org/officeDocument/2006/relationships/notesMaster" Target="/ppt/notesMasters/notesMaster1.xml" Id="Rf81295306c8e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57a5d00834f6c" /><Relationship Type="http://schemas.openxmlformats.org/officeDocument/2006/relationships/notesMaster" Target="/ppt/notesMasters/notesMaster1.xml" Id="Rf64da2d765974a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1c91a8cb9940bd" /><Relationship Type="http://schemas.openxmlformats.org/officeDocument/2006/relationships/notesMaster" Target="/ppt/notesMasters/notesMaster1.xml" Id="R50e5f47b3792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c076b1a64d4e7b" /><Relationship Type="http://schemas.openxmlformats.org/officeDocument/2006/relationships/notesMaster" Target="/ppt/notesMasters/notesMaster1.xml" Id="R2de6a20ae8a146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03169239a04e06" /><Relationship Type="http://schemas.openxmlformats.org/officeDocument/2006/relationships/notesMaster" Target="/ppt/notesMasters/notesMaster1.xml" Id="R6e9e324a574d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232499be4b4266" /><Relationship Type="http://schemas.openxmlformats.org/officeDocument/2006/relationships/notesMaster" Target="/ppt/notesMasters/notesMaster1.xml" Id="Rc387961f17d642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a4fbd0b4284982" /><Relationship Type="http://schemas.openxmlformats.org/officeDocument/2006/relationships/notesMaster" Target="/ppt/notesMasters/notesMaster1.xml" Id="R5c9feeb55c9f44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a3a90189004f1d" /><Relationship Type="http://schemas.openxmlformats.org/officeDocument/2006/relationships/notesMaster" Target="/ppt/notesMasters/notesMaster1.xml" Id="R3a748169bab54e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a4515c73ec4fd8" /><Relationship Type="http://schemas.openxmlformats.org/officeDocument/2006/relationships/notesMaster" Target="/ppt/notesMasters/notesMaster1.xml" Id="Rc5d67a4f028a44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7c49c2311c48ac" /><Relationship Type="http://schemas.openxmlformats.org/officeDocument/2006/relationships/notesMaster" Target="/ppt/notesMasters/notesMaster1.xml" Id="R3b912da14947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326ce674246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9f14b1a11a43de" /><Relationship Type="http://schemas.openxmlformats.org/officeDocument/2006/relationships/slideLayout" Target="/ppt/slideLayouts/slideLayout2.xml" Id="Raadc8b49be3d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c8b49be3d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1ae37de9ea4189" /><Relationship Type="http://schemas.openxmlformats.org/officeDocument/2006/relationships/notesSlide" Target="/ppt/notesSlides/notesSlide1.xml" Id="Rdcac11db639c4f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894684b504067" /><Relationship Type="http://schemas.openxmlformats.org/officeDocument/2006/relationships/notesSlide" Target="/ppt/notesSlides/notesSlide2.xml" Id="Ra8a2d1970a43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20e4e3f0347af" /><Relationship Type="http://schemas.openxmlformats.org/officeDocument/2006/relationships/notesSlide" Target="/ppt/notesSlides/notesSlide3.xml" Id="R65abfa0dfa12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deae1e108482c" /><Relationship Type="http://schemas.openxmlformats.org/officeDocument/2006/relationships/notesSlide" Target="/ppt/notesSlides/notesSlide4.xml" Id="R9505592c5dc8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b16ee8e6d43d8" /><Relationship Type="http://schemas.openxmlformats.org/officeDocument/2006/relationships/notesSlide" Target="/ppt/notesSlides/notesSlide5.xml" Id="R8b3e82a94b95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6c28f0c3004d22" /><Relationship Type="http://schemas.openxmlformats.org/officeDocument/2006/relationships/notesSlide" Target="/ppt/notesSlides/notesSlide6.xml" Id="Rf7e35e4ef7fd44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bff108f2a4ad0" /><Relationship Type="http://schemas.openxmlformats.org/officeDocument/2006/relationships/notesSlide" Target="/ppt/notesSlides/notesSlide7.xml" Id="R80e3625a159148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91afd741404b78" /><Relationship Type="http://schemas.openxmlformats.org/officeDocument/2006/relationships/image" Target="/ppt/media/image.png" Id="R38091b6086ae4f21" /><Relationship Type="http://schemas.openxmlformats.org/officeDocument/2006/relationships/image" Target="/ppt/media/image2.png" Id="R277c4060e0064cca" /><Relationship Type="http://schemas.openxmlformats.org/officeDocument/2006/relationships/notesSlide" Target="/ppt/notesSlides/notesSlide8.xml" Id="R7b13a979446d40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9fed10b554491b" /><Relationship Type="http://schemas.openxmlformats.org/officeDocument/2006/relationships/notesSlide" Target="/ppt/notesSlides/notesSlide9.xml" Id="R34b83ef4c08f48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74046d7be34a37" /><Relationship Type="http://schemas.openxmlformats.org/officeDocument/2006/relationships/notesSlide" Target="/ppt/notesSlides/notesSlide10.xml" Id="R5edc3ce05bad41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ecb74383c480b" /><Relationship Type="http://schemas.openxmlformats.org/officeDocument/2006/relationships/image" Target="/ppt/media/image3.png" Id="Re0a525e96cc847de" /><Relationship Type="http://schemas.openxmlformats.org/officeDocument/2006/relationships/image" Target="/ppt/media/image4.png" Id="Re7e9b99b63be4a20" /><Relationship Type="http://schemas.openxmlformats.org/officeDocument/2006/relationships/notesSlide" Target="/ppt/notesSlides/notesSlide11.xml" Id="Rf00b399995b148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aefc85d1441bd" /><Relationship Type="http://schemas.openxmlformats.org/officeDocument/2006/relationships/notesSlide" Target="/ppt/notesSlides/notesSlide12.xml" Id="Re3181343a7cb42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02c55e5284514" /><Relationship Type="http://schemas.openxmlformats.org/officeDocument/2006/relationships/notesSlide" Target="/ppt/notesSlides/notesSlide13.xml" Id="Rab3ed4af71f343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1817fab30544e5" /><Relationship Type="http://schemas.openxmlformats.org/officeDocument/2006/relationships/notesSlide" Target="/ppt/notesSlides/notesSlide14.xml" Id="R06f719f835884a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2758cd5ffc4e3c" /><Relationship Type="http://schemas.openxmlformats.org/officeDocument/2006/relationships/notesSlide" Target="/ppt/notesSlides/notesSlide15.xml" Id="R16e0912e3c5343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E7A13A2A-FB0C-4595-9294-DB6BD5F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A9F5584-0CEE-4AF1-8CAE-D715406E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83058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6211D"/>
                </a:solidFill>
              </a:defRPr>
            </a:pPr>
            <a:r>
              <a:rPr sz="5850" b="1">
                <a:solidFill>
                  <a:srgbClr val="16211D"/>
                </a:solidFill>
              </a:rPr>
              <a:t>脑肿瘤 MRI</a:t>
            </a:r>
          </a:p>
          <a:p xmlns:a="http://schemas.openxmlformats.org/drawingml/2006/main">
            <a:pPr>
              <a:defRPr sz="5850" b="1">
                <a:solidFill>
                  <a:srgbClr val="16211D"/>
                </a:solidFill>
              </a:defRPr>
            </a:pPr>
            <a:r>
              <a:rPr sz="5850" b="1">
                <a:solidFill>
                  <a:srgbClr val="16211D"/>
                </a:solidFill>
              </a:rPr>
              <a:t>精细分割算法研究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444D9C6F-65A4-4FA4-B0D9-A81A46D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44E025-F081-4C19-9E9C-C6B4DE3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7677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C6B62"/>
                </a:solidFill>
              </a:defRPr>
            </a:pPr>
            <a:r>
              <a:rPr sz="2250">
                <a:solidFill>
                  <a:srgbClr val="5C6B62"/>
                </a:solidFill>
              </a:rPr>
              <a:t>基于 U-Net 的 2D / 2.5D 分割、Boundary Loss 与 3D 后处理评估</a:t>
            </a:r>
          </a:p>
        </p:txBody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0E9BE0CF-0FA3-4BB1-B5D0-A1155B2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4845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8536B"/>
                </a:solidFill>
              </a:defRPr>
            </a:pPr>
            <a:r>
              <a:rPr sz="1875">
                <a:solidFill>
                  <a:srgbClr val="28536B"/>
                </a:solidFill>
              </a:rPr>
              <a:t>严宏伟 · 毕业设计答辩</a:t>
            </a:r>
          </a:p>
        </p:txBody>
      </p:sp>
      <p:sp>
        <p:nvSpPr>
          <p:cNvPr id="6" name="cover-metric-card">
            <a:extLst xmlns:a="http://schemas.openxmlformats.org/drawingml/2006/main">
              <a:ext uri="{FF2B5EF4-FFF2-40B4-BE49-F238E27FC236}">
                <a16:creationId xmlns:a16="http://schemas.microsoft.com/office/drawing/2014/main" id="{2493DB9B-7154-4651-BB21-5E663A95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434" y="590550"/>
            <a:ext cx="7917366" cy="9105900"/>
          </a:xfrm>
          <a:prstGeom xmlns:a="http://schemas.openxmlformats.org/drawingml/2006/main" prst="roundRect">
            <a:avLst>
              <a:gd name="adj" fmla="val 9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80CD937-B674-403F-A76B-4EC8E6C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735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8A5B"/>
                </a:solidFill>
              </a:defRPr>
            </a:pPr>
            <a:r>
              <a:rPr sz="4650" b="1">
                <a:solidFill>
                  <a:srgbClr val="1F8A5B"/>
                </a:solidFill>
              </a:rPr>
              <a:t>500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36A034F-7AEB-453A-9F44-B8244B4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B62"/>
                </a:solidFill>
              </a:defRPr>
            </a:pPr>
            <a:r>
              <a:rPr sz="1650">
                <a:solidFill>
                  <a:srgbClr val="5C6B62"/>
                </a:solidFill>
              </a:rPr>
              <a:t>patients used in formal experiment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98CE5BD-9950-41BB-A2F3-11E84732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735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8536B"/>
                </a:solidFill>
              </a:defRPr>
            </a:pPr>
            <a:r>
              <a:rPr sz="4650" b="1">
                <a:solidFill>
                  <a:srgbClr val="28536B"/>
                </a:solidFill>
              </a:rPr>
              <a:t>3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AE385D-DFFF-4AC2-87DA-3602A9B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B62"/>
                </a:solidFill>
              </a:defRPr>
            </a:pPr>
            <a:r>
              <a:rPr sz="1650">
                <a:solidFill>
                  <a:srgbClr val="5C6B62"/>
                </a:solidFill>
              </a:rPr>
              <a:t>random seeds, patient-level split</a:t>
            </a:r>
          </a:p>
        </p:txBody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7FFE554-02D8-4271-B4DA-D54B38A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81700"/>
            <a:ext cx="735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C84630"/>
                </a:solidFill>
              </a:defRPr>
            </a:pPr>
            <a:r>
              <a:rPr sz="4650" b="1">
                <a:solidFill>
                  <a:srgbClr val="C84630"/>
                </a:solidFill>
              </a:rPr>
              <a:t>4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343C7FA-AC37-4ACD-8B89-1E1C66F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43700"/>
            <a:ext cx="735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B62"/>
                </a:solidFill>
              </a:defRPr>
            </a:pPr>
            <a:r>
              <a:rPr sz="1650">
                <a:solidFill>
                  <a:srgbClr val="5C6B62"/>
                </a:solidFill>
              </a:rPr>
              <a:t>model variants compared</a:t>
            </a:r>
          </a:p>
        </p:txBody>
      </p:sp>
    </p:spTree>
    <p:extLst>
      <p:ext uri="{BB962C8B-B14F-4D97-AF65-F5344CB8AC3E}">
        <p14:creationId xmlns:p14="http://schemas.microsoft.com/office/powerpoint/2010/main" val="8617690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35BCC72B-C38E-4B5B-BCFB-4DAC7DAA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98C7B0-3346-4BD3-B4DD-086EE71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研究背景与问题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1A1819-AE4B-4B07-9134-DE249F0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7F6777-5505-4537-B7CD-2A3D0A8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C6B62"/>
                </a:solidFill>
              </a:defRPr>
            </a:pPr>
            <a:r>
              <a:rPr sz="1875">
                <a:solidFill>
                  <a:srgbClr val="5C6B62"/>
                </a:solidFill>
              </a:rPr>
              <a:t>核心矛盾：既要提高肿瘤检出，又要控制误报结构对 3D 指标的破坏。</a:t>
            </a:r>
          </a:p>
        </p:txBody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F9298EA6-C821-47C1-9322-3D8F4F7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0962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脑肿瘤 MRI 分割是诊断、治疗计划和疗效评估的重要基础。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临床上关心的不只是整体 Dice，也关心漏检、误检和边界定位。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BraTS 数据中肿瘤形态差异大，小体积病灶更容易受切片噪声影响。</a:t>
            </a:r>
          </a:p>
        </p:txBody>
      </p:sp>
      <p:sp>
        <p:nvSpPr>
          <p:cNvPr id="6" name="background-stats">
            <a:extLst xmlns:a="http://schemas.openxmlformats.org/drawingml/2006/main">
              <a:ext uri="{FF2B5EF4-FFF2-40B4-BE49-F238E27FC236}">
                <a16:creationId xmlns:a16="http://schemas.microsoft.com/office/drawing/2014/main" id="{1A40C013-C295-45CA-927A-48C7D113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85975"/>
            <a:ext cx="8096250" cy="7610475"/>
          </a:xfrm>
          <a:prstGeom xmlns:a="http://schemas.openxmlformats.org/drawingml/2006/main" prst="roundRect">
            <a:avLst>
              <a:gd name="adj" fmla="val 100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96896F1-32D2-416B-B0E3-C06B055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4345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8536B"/>
                </a:solidFill>
              </a:defRPr>
            </a:pPr>
            <a:r>
              <a:rPr sz="4650" b="1">
                <a:solidFill>
                  <a:srgbClr val="28536B"/>
                </a:solidFill>
              </a:rPr>
              <a:t>240 × 240 × 155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9AFEB7D-E1D5-46F5-8254-1FEFF7C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05450"/>
            <a:ext cx="752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B62"/>
                </a:solidFill>
              </a:defRPr>
            </a:pPr>
            <a:r>
              <a:rPr sz="1650">
                <a:solidFill>
                  <a:srgbClr val="5C6B62"/>
                </a:solidFill>
              </a:rPr>
              <a:t>single patient 3D volume shape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1F5F210-0E32-4DC1-9D1F-AC1C697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1980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8A5B"/>
                </a:solidFill>
              </a:defRPr>
            </a:pPr>
            <a:r>
              <a:rPr sz="4650" b="1">
                <a:solidFill>
                  <a:srgbClr val="1F8A5B"/>
                </a:solidFill>
              </a:rPr>
              <a:t>2,808–361,783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2452212-7F72-4490-92FB-C01BB07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781800"/>
            <a:ext cx="752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B62"/>
                </a:solidFill>
              </a:defRPr>
            </a:pPr>
            <a:r>
              <a:rPr sz="1650">
                <a:solidFill>
                  <a:srgbClr val="5C6B62"/>
                </a:solidFill>
              </a:rPr>
              <a:t>tumor voxel range in scanned dataset</a:t>
            </a:r>
          </a:p>
        </p:txBody>
      </p:sp>
    </p:spTree>
    <p:extLst>
      <p:ext uri="{BB962C8B-B14F-4D97-AF65-F5344CB8AC3E}">
        <p14:creationId xmlns:p14="http://schemas.microsoft.com/office/powerpoint/2010/main" val="7270841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67E2EB7C-50EA-4181-8FBE-9684F6D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BF6F56-BFD1-4488-8D39-780C8B18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研究目标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05644F-052E-447A-8905-8F4E72B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goal-card">
            <a:extLst xmlns:a="http://schemas.openxmlformats.org/drawingml/2006/main">
              <a:ext uri="{FF2B5EF4-FFF2-40B4-BE49-F238E27FC236}">
                <a16:creationId xmlns:a16="http://schemas.microsoft.com/office/drawing/2014/main" id="{43ECB8C0-935C-4EDC-A00F-2AA7EA60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87F29-79DF-44C2-A0AB-0A11F7B4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本课题回答三个问题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A74909A2-DA0A-4904-A662-DACB6F3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7524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2.5D 输入能否比单切片 2D 更稳定？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Loss 是否能改善边界和漏检？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3D 连通域后处理能否降低 HD95 的极端误差？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2DE15-16B1-4F05-B67D-84CE0A66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8A5B"/>
                </a:solidFill>
              </a:defRPr>
            </a:pPr>
            <a:r>
              <a:rPr sz="2850" b="1">
                <a:solidFill>
                  <a:srgbClr val="1F8A5B"/>
                </a:solidFill>
              </a:rPr>
              <a:t>评价口径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DDA3D589-AD2A-4DE7-9DF4-A53E211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76850"/>
            <a:ext cx="8096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patient-level 3D Dice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true 3D HD95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slice-level FNR / FPR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Wilcoxon paired validation</a:t>
            </a:r>
          </a:p>
        </p:txBody>
      </p:sp>
    </p:spTree>
    <p:extLst>
      <p:ext uri="{BB962C8B-B14F-4D97-AF65-F5344CB8AC3E}">
        <p14:creationId xmlns:p14="http://schemas.microsoft.com/office/powerpoint/2010/main" val="1400873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D2565A05-0248-4DF6-B047-37ED270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80703-20CD-45DA-92DC-9F530FF9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方法总览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7A2619-5E07-48A8-B965-C386582C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E2407-C480-418E-862E-2C0EA402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11D"/>
                </a:solidFill>
              </a:defRPr>
            </a:pPr>
            <a:r>
              <a:rPr sz="2850" b="1">
                <a:solidFill>
                  <a:srgbClr val="16211D"/>
                </a:solidFill>
              </a:rPr>
              <a:t>U-Net 主干</a:t>
            </a:r>
          </a:p>
        </p:txBody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535226F5-590F-4A1E-9FBC-FC7494FE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2D：输入单张 FLAIR 切片。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2.5D：输入相邻切片堆叠，引入上下文但保持 2D 计算成本。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输出二值肿瘤区域，阈值固定为 0.5。</a:t>
            </a:r>
          </a:p>
        </p:txBody>
      </p:sp>
      <p:sp>
        <p:nvSpPr>
          <p:cNvPr id="6" name="loss-card">
            <a:extLst xmlns:a="http://schemas.openxmlformats.org/drawingml/2006/main">
              <a:ext uri="{FF2B5EF4-FFF2-40B4-BE49-F238E27FC236}">
                <a16:creationId xmlns:a16="http://schemas.microsoft.com/office/drawing/2014/main" id="{4F0B8A9B-E339-4EA4-B341-CB3F8F6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88342-C1DF-432F-97A7-75D0E03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9650"/>
            <a:ext cx="7524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11D"/>
                </a:solidFill>
              </a:defRPr>
            </a:pPr>
            <a:r>
              <a:rPr sz="2850" b="1">
                <a:solidFill>
                  <a:srgbClr val="16211D"/>
                </a:solidFill>
              </a:rPr>
              <a:t>Loss 设计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908BF89C-489C-4493-89FB-EAE3EFC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67350"/>
            <a:ext cx="7524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BCE：像素级分类监督。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Dice Loss：缓解前景/背景不平衡。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Loss：强化边界区域误差。</a:t>
            </a:r>
          </a:p>
        </p:txBody>
      </p:sp>
    </p:spTree>
    <p:extLst>
      <p:ext uri="{BB962C8B-B14F-4D97-AF65-F5344CB8AC3E}">
        <p14:creationId xmlns:p14="http://schemas.microsoft.com/office/powerpoint/2010/main" val="1257106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D27EE1B9-F70F-4A69-904F-A25798E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F71D1-B01C-4CDF-BAE4-03178FCF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实验设计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F0F84C7-9F0F-4545-B7CC-49B8AEE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exp-card">
            <a:extLst xmlns:a="http://schemas.openxmlformats.org/drawingml/2006/main">
              <a:ext uri="{FF2B5EF4-FFF2-40B4-BE49-F238E27FC236}">
                <a16:creationId xmlns:a16="http://schemas.microsoft.com/office/drawing/2014/main" id="{4DE9E4B0-EDAF-43C2-896E-A86038F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A1077-DEAB-4C5B-92F6-6DA0FC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正式实验设置</a:t>
            </a:r>
          </a:p>
        </p:txBody>
      </p:sp>
      <p:sp>
        <p:nvSpPr>
          <p:cNvPr id="6" name="table-text">
            <a:extLst xmlns:a="http://schemas.openxmlformats.org/drawingml/2006/main">
              <a:ext uri="{FF2B5EF4-FFF2-40B4-BE49-F238E27FC236}">
                <a16:creationId xmlns:a16="http://schemas.microsoft.com/office/drawing/2014/main" id="{A852602B-B1B5-4632-BC2E-C80A3A0C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7524750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项目  |  设置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---  |  ---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患者数  |  500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seed  |  0 / 1 / 2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划分  |  train : val : test = 7 : 1 : 2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test  |  每个 seed 100 patients</a:t>
            </a:r>
          </a:p>
          <a:p xmlns:a="http://schemas.openxmlformats.org/drawingml/2006/main">
            <a:pPr>
              <a:defRPr sz="2025">
                <a:solidFill>
                  <a:srgbClr val="16211D"/>
                </a:solidFill>
              </a:defRPr>
            </a:pPr>
            <a:r>
              <a:rPr sz="2025">
                <a:solidFill>
                  <a:srgbClr val="16211D"/>
                </a:solidFill>
              </a:rPr>
              <a:t>模型数  |  4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34876-FCE5-472C-82A6-249A5F76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809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8A5B"/>
                </a:solidFill>
              </a:defRPr>
            </a:pPr>
            <a:r>
              <a:rPr sz="2700" b="1">
                <a:solidFill>
                  <a:srgbClr val="1F8A5B"/>
                </a:solidFill>
              </a:rPr>
              <a:t>四组模型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78ADA287-D196-4098-9037-D39C19A2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80962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6211D"/>
                </a:solidFill>
              </a:defRPr>
            </a:pPr>
            <a:r>
              <a:rPr sz="2400">
                <a:solidFill>
                  <a:srgbClr val="16211D"/>
                </a:solidFill>
              </a:rPr>
              <a:t>• 2D Dice+BCE</a:t>
            </a:r>
          </a:p>
          <a:p xmlns:a="http://schemas.openxmlformats.org/drawingml/2006/main">
            <a:pPr>
              <a:defRPr sz="2400">
                <a:solidFill>
                  <a:srgbClr val="16211D"/>
                </a:solidFill>
              </a:defRPr>
            </a:pPr>
            <a:r>
              <a:rPr sz="2400">
                <a:solidFill>
                  <a:srgbClr val="16211D"/>
                </a:solidFill>
              </a:rPr>
              <a:t>• 2D Dice+BCE+Boundary</a:t>
            </a:r>
          </a:p>
          <a:p xmlns:a="http://schemas.openxmlformats.org/drawingml/2006/main">
            <a:pPr>
              <a:defRPr sz="2400">
                <a:solidFill>
                  <a:srgbClr val="16211D"/>
                </a:solidFill>
              </a:defRPr>
            </a:pPr>
            <a:r>
              <a:rPr sz="2400">
                <a:solidFill>
                  <a:srgbClr val="16211D"/>
                </a:solidFill>
              </a:rPr>
              <a:t>• 2.5D Dice+BCE</a:t>
            </a:r>
          </a:p>
          <a:p xmlns:a="http://schemas.openxmlformats.org/drawingml/2006/main">
            <a:pPr>
              <a:defRPr sz="2400">
                <a:solidFill>
                  <a:srgbClr val="16211D"/>
                </a:solidFill>
              </a:defRPr>
            </a:pPr>
            <a:r>
              <a:rPr sz="2400">
                <a:solidFill>
                  <a:srgbClr val="16211D"/>
                </a:solidFill>
              </a:rPr>
              <a:t>• 2.5D Dice+BCE+Boundary</a:t>
            </a:r>
          </a:p>
        </p:txBody>
      </p:sp>
    </p:spTree>
    <p:extLst>
      <p:ext uri="{BB962C8B-B14F-4D97-AF65-F5344CB8AC3E}">
        <p14:creationId xmlns:p14="http://schemas.microsoft.com/office/powerpoint/2010/main" val="107704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DC68C853-A2F3-43EC-B0BA-7460B0F9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A8C807-5D1C-4223-AE29-5E14D4E6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原始 3D 结果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6AC02D-547B-42D7-836A-01CC9AB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original-table">
            <a:extLst xmlns:a="http://schemas.openxmlformats.org/drawingml/2006/main">
              <a:ext uri="{FF2B5EF4-FFF2-40B4-BE49-F238E27FC236}">
                <a16:creationId xmlns:a16="http://schemas.microsoft.com/office/drawing/2014/main" id="{455ADE19-3FA0-4A11-B94C-5CACB4D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able-text">
            <a:extLst xmlns:a="http://schemas.openxmlformats.org/drawingml/2006/main">
              <a:ext uri="{FF2B5EF4-FFF2-40B4-BE49-F238E27FC236}">
                <a16:creationId xmlns:a16="http://schemas.microsoft.com/office/drawing/2014/main" id="{3F52D9BF-14E9-4675-B9B9-C4CFC4B2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模型  |  Dice mean  |  HD95 median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---  |  ---  |  ---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BCE+Dice  |  0.870  |  6.63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+ Boundary  |  0.870  |  14.4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BCE+Dice  |  0.890  |  4.12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+ Boundary  |  0.881  |  7.93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7CDA3-E730-48A3-9249-D56D92AD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11D"/>
                </a:solidFill>
              </a:defRPr>
            </a:pPr>
            <a:r>
              <a:rPr sz="2850" b="1">
                <a:solidFill>
                  <a:srgbClr val="16211D"/>
                </a:solidFill>
              </a:rPr>
              <a:t>主要观察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A20BEE2F-7983-43D3-96E9-0173B0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95900"/>
            <a:ext cx="8096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2.5D Dice+BCE 在 Dice 和 HD95 上整体优于 2D。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Loss 降低漏检，但原始预测中会引入更多误检结构。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HD95 对远离 GT 的小 FP 结构非常敏感。</a:t>
            </a:r>
          </a:p>
        </p:txBody>
      </p:sp>
    </p:spTree>
    <p:extLst>
      <p:ext uri="{BB962C8B-B14F-4D97-AF65-F5344CB8AC3E}">
        <p14:creationId xmlns:p14="http://schemas.microsoft.com/office/powerpoint/2010/main" val="465911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273B97BC-1997-4C19-ACB2-E8F275F4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486F91-344F-49D3-8EC6-5453773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漏检与误检：Boundary 的双刃剑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A03831-766E-4524-8B2D-D0EFAFA0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fnr-fpr-table">
            <a:extLst xmlns:a="http://schemas.openxmlformats.org/drawingml/2006/main">
              <a:ext uri="{FF2B5EF4-FFF2-40B4-BE49-F238E27FC236}">
                <a16:creationId xmlns:a16="http://schemas.microsoft.com/office/drawing/2014/main" id="{4A5F5652-C1B9-45F2-8FBD-25062A6E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able-text">
            <a:extLst xmlns:a="http://schemas.openxmlformats.org/drawingml/2006/main">
              <a:ext uri="{FF2B5EF4-FFF2-40B4-BE49-F238E27FC236}">
                <a16:creationId xmlns:a16="http://schemas.microsoft.com/office/drawing/2014/main" id="{2FB26967-BF78-4723-AF47-FF098FB0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模型  |  FNR mean  |  FPR mean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---  |  ---  |  ---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BCE+Dice  |  0.0569  |  0.159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+ Boundary  |  0.0176  |  0.387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BCE+Dice  |  0.0820  |  0.0398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+ Boundary  |  0.0181  |  0.314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69BC3-FB85-4D79-B4EB-0573255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4630"/>
                </a:solidFill>
              </a:defRPr>
            </a:pPr>
            <a:r>
              <a:rPr sz="2850" b="1">
                <a:solidFill>
                  <a:srgbClr val="C84630"/>
                </a:solidFill>
              </a:rPr>
              <a:t>答辩时的关键解释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C1CEBCD4-7FD3-4855-9E1F-508C856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95900"/>
            <a:ext cx="8096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让模型更愿意预测边界附近前景，因此 FNR 明显下降。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代价是空切片上更容易出现小面积假阳性，导致 FPR 上升。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这也是后处理被纳入最终分析的原因。</a:t>
            </a:r>
          </a:p>
        </p:txBody>
      </p:sp>
    </p:spTree>
    <p:extLst>
      <p:ext uri="{BB962C8B-B14F-4D97-AF65-F5344CB8AC3E}">
        <p14:creationId xmlns:p14="http://schemas.microsoft.com/office/powerpoint/2010/main" val="538831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6F7F0207-31D2-466C-85DD-E8DFBA8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A652C8-2541-40CD-A75B-5B38597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3D 连通域后处理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63A9AB-AF0B-4C0B-9A9B-D487DD1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1ABFC1-972C-4386-813A-22D9096C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7962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C6B62"/>
                </a:solidFill>
              </a:defRPr>
            </a:pPr>
            <a:r>
              <a:rPr sz="1875">
                <a:solidFill>
                  <a:srgbClr val="5C6B62"/>
                </a:solidFill>
              </a:rPr>
              <a:t>删除小连通域后，HD95 的极端误差被明显压低；Dice 整体保持或小幅改善。</a:t>
            </a:r>
          </a:p>
        </p:txBody>
      </p:sp>
      <p:pic>
        <p:nvPicPr>
          <p:cNvPr id="5" name="dice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91b6086ae4f21"/>
          <a:stretch xmlns:a="http://schemas.openxmlformats.org/drawingml/2006/main"/>
        </p:blipFill>
        <p:spPr>
          <a:xfrm xmlns:a="http://schemas.openxmlformats.org/drawingml/2006/main">
            <a:off x="838200" y="3672681"/>
            <a:ext cx="8096250" cy="4722813"/>
          </a:xfrm>
          <a:prstGeom xmlns:a="http://schemas.openxmlformats.org/drawingml/2006/main" prst="rect">
            <a:avLst/>
          </a:prstGeom>
        </p:spPr>
      </p:pic>
      <p:pic>
        <p:nvPicPr>
          <p:cNvPr id="6" name="hd95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c4060e0064cca"/>
          <a:stretch xmlns:a="http://schemas.openxmlformats.org/drawingml/2006/main"/>
        </p:blipFill>
        <p:spPr>
          <a:xfrm xmlns:a="http://schemas.openxmlformats.org/drawingml/2006/main">
            <a:off x="9353550" y="3672681"/>
            <a:ext cx="8096250" cy="47228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37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0353E8EA-9452-461A-836F-4354F776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2E17D-5792-4C80-AE0C-7438231E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cc500 后处理后的 pooled 结果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740E0C-4313-4D88-BFFD-F1DD8ACA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cc500-table">
            <a:extLst xmlns:a="http://schemas.openxmlformats.org/drawingml/2006/main">
              <a:ext uri="{FF2B5EF4-FFF2-40B4-BE49-F238E27FC236}">
                <a16:creationId xmlns:a16="http://schemas.microsoft.com/office/drawing/2014/main" id="{E302681C-7993-47E0-9F1E-AA1AA04E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able-text">
            <a:extLst xmlns:a="http://schemas.openxmlformats.org/drawingml/2006/main">
              <a:ext uri="{FF2B5EF4-FFF2-40B4-BE49-F238E27FC236}">
                <a16:creationId xmlns:a16="http://schemas.microsoft.com/office/drawing/2014/main" id="{D514D4B3-FB97-4618-A2B4-7D474BE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模型  |  Dice mean  |  HD95 median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---  |  ---  |  ---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BCE+Dice  |  0.877  |  4.47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2D + Boundary  |  0.881  |  5.10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BCE+Dice  |  0.892  |  4.12</a:t>
            </a:r>
          </a:p>
          <a:p xmlns:a="http://schemas.openxmlformats.org/drawingml/2006/main">
            <a:pPr>
              <a:defRPr sz="2100">
                <a:solidFill>
                  <a:srgbClr val="16211D"/>
                </a:solidFill>
              </a:defRPr>
            </a:pPr>
            <a:r>
              <a:rPr sz="2100">
                <a:solidFill>
                  <a:srgbClr val="16211D"/>
                </a:solidFill>
              </a:rPr>
              <a:t>2.5D + Boundary  |  0.889  |  4.12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4A34F-9686-4F5C-BC39-D6CCDFA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8A5B"/>
                </a:solidFill>
              </a:defRPr>
            </a:pPr>
            <a:r>
              <a:rPr sz="2850" b="1">
                <a:solidFill>
                  <a:srgbClr val="1F8A5B"/>
                </a:solidFill>
              </a:rPr>
              <a:t>后处理的意义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C016DD92-41AF-4195-8D58-E439917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小 FP 连通域会显著拉高 HD95。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cc500 清理的是预测体中的离散噪点，不改变 GT。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处理后 2.5D 仍保持最优或并列最优的 HD95 表现。</a:t>
            </a:r>
          </a:p>
        </p:txBody>
      </p:sp>
    </p:spTree>
    <p:extLst>
      <p:ext uri="{BB962C8B-B14F-4D97-AF65-F5344CB8AC3E}">
        <p14:creationId xmlns:p14="http://schemas.microsoft.com/office/powerpoint/2010/main" val="2955366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74938935-4799-4F28-99DC-4867386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03971A-FC9E-4358-A33C-69108DCD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按肿瘤体积分组：小病灶最难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9C39C7-05F2-4C1A-ABF6-71BB7F01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size-table">
            <a:extLst xmlns:a="http://schemas.openxmlformats.org/drawingml/2006/main">
              <a:ext uri="{FF2B5EF4-FFF2-40B4-BE49-F238E27FC236}">
                <a16:creationId xmlns:a16="http://schemas.microsoft.com/office/drawing/2014/main" id="{A1E8B04E-D0FE-429D-8B6F-A9C70C03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able-text">
            <a:extLst xmlns:a="http://schemas.openxmlformats.org/drawingml/2006/main">
              <a:ext uri="{FF2B5EF4-FFF2-40B4-BE49-F238E27FC236}">
                <a16:creationId xmlns:a16="http://schemas.microsoft.com/office/drawing/2014/main" id="{022AC85F-F2C2-45A3-87C9-9F4537D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1D"/>
                </a:solidFill>
              </a:defRPr>
            </a:pPr>
            <a:r>
              <a:rPr sz="1875">
                <a:solidFill>
                  <a:srgbClr val="16211D"/>
                </a:solidFill>
              </a:rPr>
              <a:t>分组  |  2D Dice  |  2.5D Dice  |  2.5D+Boundary Dice</a:t>
            </a:r>
          </a:p>
          <a:p xmlns:a="http://schemas.openxmlformats.org/drawingml/2006/main">
            <a:pPr>
              <a:defRPr sz="1875">
                <a:solidFill>
                  <a:srgbClr val="16211D"/>
                </a:solidFill>
              </a:defRPr>
            </a:pPr>
            <a:r>
              <a:rPr sz="1875">
                <a:solidFill>
                  <a:srgbClr val="16211D"/>
                </a:solidFill>
              </a:rPr>
              <a:t>---  |  ---  |  ---  |  ---</a:t>
            </a:r>
          </a:p>
          <a:p xmlns:a="http://schemas.openxmlformats.org/drawingml/2006/main">
            <a:pPr>
              <a:defRPr sz="1875">
                <a:solidFill>
                  <a:srgbClr val="16211D"/>
                </a:solidFill>
              </a:defRPr>
            </a:pPr>
            <a:r>
              <a:rPr sz="1875">
                <a:solidFill>
                  <a:srgbClr val="16211D"/>
                </a:solidFill>
              </a:rPr>
              <a:t>small 30%  |  0.818  |  0.846  |  0.837</a:t>
            </a:r>
          </a:p>
          <a:p xmlns:a="http://schemas.openxmlformats.org/drawingml/2006/main">
            <a:pPr>
              <a:defRPr sz="1875">
                <a:solidFill>
                  <a:srgbClr val="16211D"/>
                </a:solidFill>
              </a:defRPr>
            </a:pPr>
            <a:r>
              <a:rPr sz="1875">
                <a:solidFill>
                  <a:srgbClr val="16211D"/>
                </a:solidFill>
              </a:rPr>
              <a:t>mid 40%  |  0.893  |  0.907  |  0.906</a:t>
            </a:r>
          </a:p>
          <a:p xmlns:a="http://schemas.openxmlformats.org/drawingml/2006/main">
            <a:pPr>
              <a:defRPr sz="1875">
                <a:solidFill>
                  <a:srgbClr val="16211D"/>
                </a:solidFill>
              </a:defRPr>
            </a:pPr>
            <a:r>
              <a:rPr sz="1875">
                <a:solidFill>
                  <a:srgbClr val="16211D"/>
                </a:solidFill>
              </a:rPr>
              <a:t>large 30%  |  0.915  |  0.918  |  0.919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477F5-A48A-4E2E-BFC3-BFF63358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11D"/>
                </a:solidFill>
              </a:defRPr>
            </a:pPr>
            <a:r>
              <a:rPr sz="2850" b="1">
                <a:solidFill>
                  <a:srgbClr val="16211D"/>
                </a:solidFill>
              </a:rPr>
              <a:t>结论指向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22E40951-1C09-4E45-BC82-6E64BB70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体积越小，Dice 越低，HD95 越不稳定。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2.5D 对小病灶更有帮助，说明上下文信息确实有价值。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对小病灶不总是稳定，需配合后处理和阈值策略。</a:t>
            </a:r>
          </a:p>
        </p:txBody>
      </p:sp>
    </p:spTree>
    <p:extLst>
      <p:ext uri="{BB962C8B-B14F-4D97-AF65-F5344CB8AC3E}">
        <p14:creationId xmlns:p14="http://schemas.microsoft.com/office/powerpoint/2010/main" val="16202505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D423A41D-1435-49CB-B2E1-B771FFA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4955EE-E6C3-4861-A01F-FC74046D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三维可视化示例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619D99-0457-4DF6-8FA8-B86417A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D2B0D9-99C7-4434-9E0B-C9FB82B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C6B62"/>
                </a:solidFill>
              </a:defRPr>
            </a:pPr>
            <a:r>
              <a:rPr sz="1875">
                <a:solidFill>
                  <a:srgbClr val="5C6B62"/>
                </a:solidFill>
              </a:rPr>
              <a:t>绿色为 GT，黄色为模型预测；左侧 GT，右侧按 2D / 2.5D 模型排列。</a:t>
            </a:r>
          </a:p>
        </p:txBody>
      </p:sp>
      <p:pic>
        <p:nvPicPr>
          <p:cNvPr id="5" name="case-lar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525e96cc847de"/>
          <a:stretch xmlns:a="http://schemas.openxmlformats.org/drawingml/2006/main"/>
        </p:blipFill>
        <p:spPr>
          <a:xfrm xmlns:a="http://schemas.openxmlformats.org/drawingml/2006/main">
            <a:off x="838200" y="4010025"/>
            <a:ext cx="8096250" cy="4048125"/>
          </a:xfrm>
          <a:prstGeom xmlns:a="http://schemas.openxmlformats.org/drawingml/2006/main" prst="rect">
            <a:avLst/>
          </a:prstGeom>
        </p:spPr>
      </p:pic>
      <p:pic>
        <p:nvPicPr>
          <p:cNvPr id="6" name="case-mi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9b99b63be4a20"/>
          <a:stretch xmlns:a="http://schemas.openxmlformats.org/drawingml/2006/main"/>
        </p:blipFill>
        <p:spPr>
          <a:xfrm xmlns:a="http://schemas.openxmlformats.org/drawingml/2006/main">
            <a:off x="9353550" y="4010025"/>
            <a:ext cx="8096250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971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4ACC1A82-67AA-4EC6-A7E0-37363D65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342A3-FC2D-4A6F-A235-D3A2BAB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统计检验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E33938-A6B6-466B-81B5-09B52D3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wilcoxon-table">
            <a:extLst xmlns:a="http://schemas.openxmlformats.org/drawingml/2006/main">
              <a:ext uri="{FF2B5EF4-FFF2-40B4-BE49-F238E27FC236}">
                <a16:creationId xmlns:a16="http://schemas.microsoft.com/office/drawing/2014/main" id="{E3002159-CC06-4F9C-84D6-0080F7AA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able-text">
            <a:extLst xmlns:a="http://schemas.openxmlformats.org/drawingml/2006/main">
              <a:ext uri="{FF2B5EF4-FFF2-40B4-BE49-F238E27FC236}">
                <a16:creationId xmlns:a16="http://schemas.microsoft.com/office/drawing/2014/main" id="{CBDA6DD0-1036-4E80-8F6B-D4994213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比较  |  指标  |  p-value</a:t>
            </a:r>
          </a:p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---  |  ---  |  ---</a:t>
            </a:r>
          </a:p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2.5D+Boundary vs 2D+Boundary  |  Dice  |  2.87e-08</a:t>
            </a:r>
          </a:p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2.5D+Boundary vs 2D+Boundary  |  HD95  |  9.89e-04</a:t>
            </a:r>
          </a:p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2.5D+Boundary vs 2.5D BCE+Dice  |  Dice  |  0.210</a:t>
            </a:r>
          </a:p>
          <a:p xmlns:a="http://schemas.openxmlformats.org/drawingml/2006/main">
            <a:pPr>
              <a:defRPr sz="1800">
                <a:solidFill>
                  <a:srgbClr val="16211D"/>
                </a:solidFill>
              </a:defRPr>
            </a:pPr>
            <a:r>
              <a:rPr sz="1800">
                <a:solidFill>
                  <a:srgbClr val="16211D"/>
                </a:solidFill>
              </a:rPr>
              <a:t>2.5D+Boundary vs 2.5D BCE+Dice  |  HD95  |  3.20e-04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A89FD-4B36-4B79-9721-7305EF8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536B"/>
                </a:solidFill>
              </a:defRPr>
            </a:pPr>
            <a:r>
              <a:rPr sz="2850" b="1">
                <a:solidFill>
                  <a:srgbClr val="28536B"/>
                </a:solidFill>
              </a:rPr>
              <a:t>验证方式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45DED60D-975D-4179-8108-FE415846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同一批 test patient 上做配对检验。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三组 seed 合并为 300 个 patient-level paired samples。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使用 Wilcoxon signed-rank test，避免正态性假设过强。</a:t>
            </a:r>
          </a:p>
        </p:txBody>
      </p:sp>
    </p:spTree>
    <p:extLst>
      <p:ext uri="{BB962C8B-B14F-4D97-AF65-F5344CB8AC3E}">
        <p14:creationId xmlns:p14="http://schemas.microsoft.com/office/powerpoint/2010/main" val="15031586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6D11B2E9-F79F-4BFA-81E3-C4374F4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61C1E8-E7C2-4DB0-9DC9-50FB421B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创新点与贡献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D2EB7E-780C-4C4E-B871-FF4DA59F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8E25E928-DFDC-4276-80C2-FB51381B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809625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构建了 2D / 2.5D U-Net 在 BraTS2021 FLAIR 上的可复现实验流程。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把 Dice、HD95、FNR、FPR 结合起来评价模型，而不是只看单一 Dice。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分析了 Boundary Loss 对漏检和误检的双向影响。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加入 patient-level 3D 后处理和体积分组分析，解释 HD95 变化来源。</a:t>
            </a:r>
          </a:p>
        </p:txBody>
      </p:sp>
      <p:sp>
        <p:nvSpPr>
          <p:cNvPr id="5" name="contribution-summary">
            <a:extLst xmlns:a="http://schemas.openxmlformats.org/drawingml/2006/main">
              <a:ext uri="{FF2B5EF4-FFF2-40B4-BE49-F238E27FC236}">
                <a16:creationId xmlns:a16="http://schemas.microsoft.com/office/drawing/2014/main" id="{1C5C29AD-EADB-4866-839B-5A358AE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7C903-B00B-48F2-BA6D-D84B830D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14900"/>
            <a:ext cx="7524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8A5B"/>
                </a:solidFill>
              </a:defRPr>
            </a:pPr>
            <a:r>
              <a:rPr sz="3300" b="1">
                <a:solidFill>
                  <a:srgbClr val="1F8A5B"/>
                </a:solidFill>
              </a:rPr>
              <a:t>最重要的结论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CEF9D-1E40-4D47-9034-18EE891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76900"/>
            <a:ext cx="7524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6211D"/>
                </a:solidFill>
              </a:defRPr>
            </a:pPr>
            <a:r>
              <a:rPr sz="2550">
                <a:solidFill>
                  <a:srgbClr val="16211D"/>
                </a:solidFill>
              </a:rPr>
              <a:t>2.5D 输入提供了更稳定的空间上下文；Boundary Loss 能降低漏检，但必须配合后处理控制误报。</a:t>
            </a:r>
          </a:p>
        </p:txBody>
      </p:sp>
    </p:spTree>
    <p:extLst>
      <p:ext uri="{BB962C8B-B14F-4D97-AF65-F5344CB8AC3E}">
        <p14:creationId xmlns:p14="http://schemas.microsoft.com/office/powerpoint/2010/main" val="21472541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DAFDE764-1466-4A0A-A8A5-F8FA83F0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9EFFE9-A06B-4AE8-91D2-BE37068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6211D"/>
                </a:solidFill>
              </a:defRPr>
            </a:pPr>
            <a:r>
              <a:rPr sz="4125" b="1">
                <a:solidFill>
                  <a:srgbClr val="16211D"/>
                </a:solidFill>
              </a:rPr>
              <a:t>不足与展望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B0BD35-8035-4892-9AC4-43FC76A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limits-card">
            <a:extLst xmlns:a="http://schemas.openxmlformats.org/drawingml/2006/main">
              <a:ext uri="{FF2B5EF4-FFF2-40B4-BE49-F238E27FC236}">
                <a16:creationId xmlns:a16="http://schemas.microsoft.com/office/drawing/2014/main" id="{EE7DAC3D-EE20-40B8-8534-8DBDD27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8096250" cy="80295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2C54D-6756-4265-9C30-AC2D491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7524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4630"/>
                </a:solidFill>
              </a:defRPr>
            </a:pPr>
            <a:r>
              <a:rPr sz="2850" b="1">
                <a:solidFill>
                  <a:srgbClr val="C84630"/>
                </a:solidFill>
              </a:rPr>
              <a:t>当前不足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DF794423-5CF3-4A05-90DC-E51831CC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7524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只使用 FLAIR 单模态，没有融合 T1/T1ce/T2。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2.5D 仍不是完整 3D 网络，跨层空间建模有限。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Boundary 权重和后处理阈值仍需更系统的外部验证。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7B7EC-AB93-473C-A1EC-A0B789C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8A5B"/>
                </a:solidFill>
              </a:defRPr>
            </a:pPr>
            <a:r>
              <a:rPr sz="2850" b="1">
                <a:solidFill>
                  <a:srgbClr val="1F8A5B"/>
                </a:solidFill>
              </a:rPr>
              <a:t>后续方向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D7CEE530-6C6C-4EFE-8ABE-52D93947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多模态输入与 3D/nnU-Net 基线比较。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面向小病灶的采样与损失函数改进。</a:t>
            </a:r>
          </a:p>
          <a:p xmlns:a="http://schemas.openxmlformats.org/drawingml/2006/main">
            <a:pPr>
              <a:defRPr sz="2325">
                <a:solidFill>
                  <a:srgbClr val="16211D"/>
                </a:solidFill>
              </a:defRPr>
            </a:pPr>
            <a:r>
              <a:rPr sz="2325">
                <a:solidFill>
                  <a:srgbClr val="16211D"/>
                </a:solidFill>
              </a:rPr>
              <a:t>• 把连通域后处理改为可学习或验证集自适应策略。</a:t>
            </a:r>
          </a:p>
        </p:txBody>
      </p:sp>
    </p:spTree>
    <p:extLst>
      <p:ext uri="{BB962C8B-B14F-4D97-AF65-F5344CB8AC3E}">
        <p14:creationId xmlns:p14="http://schemas.microsoft.com/office/powerpoint/2010/main" val="11246824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ot-bg">
            <a:extLst xmlns:a="http://schemas.openxmlformats.org/drawingml/2006/main">
              <a:ext uri="{FF2B5EF4-FFF2-40B4-BE49-F238E27FC236}">
                <a16:creationId xmlns:a16="http://schemas.microsoft.com/office/drawing/2014/main" id="{8D4C6ACE-4463-4253-8171-C985838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</p:spPr>
      </p:sp>
      <p:sp>
        <p:nvSpPr>
          <p:cNvPr id="2" name="thanks">
            <a:extLst xmlns:a="http://schemas.openxmlformats.org/drawingml/2006/main">
              <a:ext uri="{FF2B5EF4-FFF2-40B4-BE49-F238E27FC236}">
                <a16:creationId xmlns:a16="http://schemas.microsoft.com/office/drawing/2014/main" id="{30CCE595-60B5-4F80-8771-88DAD95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6611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6211D"/>
                </a:solidFill>
              </a:defRPr>
            </a:pPr>
            <a:r>
              <a:rPr sz="5850" b="1">
                <a:solidFill>
                  <a:srgbClr val="16211D"/>
                </a:solidFill>
              </a:rPr>
              <a:t>谢谢各位老师</a:t>
            </a:r>
          </a:p>
        </p:txBody>
      </p:sp>
      <p:sp>
        <p:nvSpPr>
          <p:cNvPr id="3" name="thanks-rule">
            <a:extLst xmlns:a="http://schemas.openxmlformats.org/drawingml/2006/main">
              <a:ext uri="{FF2B5EF4-FFF2-40B4-BE49-F238E27FC236}">
                <a16:creationId xmlns:a16="http://schemas.microsoft.com/office/drawing/2014/main" id="{1A780EB6-92B7-435C-8375-A46B82D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4" name="qa">
            <a:extLst xmlns:a="http://schemas.openxmlformats.org/drawingml/2006/main">
              <a:ext uri="{FF2B5EF4-FFF2-40B4-BE49-F238E27FC236}">
                <a16:creationId xmlns:a16="http://schemas.microsoft.com/office/drawing/2014/main" id="{52A019AD-35A0-42E7-8FF4-ADD05E3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6611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5C6B62"/>
                </a:solidFill>
              </a:defRPr>
            </a:pPr>
            <a:r>
              <a:rPr sz="2850">
                <a:solidFill>
                  <a:srgbClr val="5C6B62"/>
                </a:solidFill>
              </a:rPr>
              <a:t>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23278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2026-05-10T21:31:20.5680000Z</dcterms:created>
  <dcterms:modified xsi:type="dcterms:W3CDTF">2026-05-10T21:31:20.5680000Z</dcterms:modified>
</coreProperties>
</file>